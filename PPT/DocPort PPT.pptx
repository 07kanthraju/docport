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Inter SemiBold"/>
      <p:regular r:id="rId11"/>
      <p:bold r:id="rId12"/>
      <p:italic r:id="rId13"/>
      <p:boldItalic r:id="rId14"/>
    </p:embeddedFont>
    <p:embeddedFont>
      <p:font typeface="Inter"/>
      <p:regular r:id="rId15"/>
      <p:bold r:id="rId16"/>
      <p:italic r:id="rId17"/>
      <p:boldItalic r:id="rId18"/>
    </p:embeddedFont>
    <p:embeddedFont>
      <p:font typeface="Inter ExtraBold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ExtraBold-boldItalic.fntdata"/><Relationship Id="rId11" Type="http://schemas.openxmlformats.org/officeDocument/2006/relationships/font" Target="fonts/InterSemiBold-regular.fntdata"/><Relationship Id="rId10" Type="http://schemas.openxmlformats.org/officeDocument/2006/relationships/slide" Target="slides/slide5.xml"/><Relationship Id="rId13" Type="http://schemas.openxmlformats.org/officeDocument/2006/relationships/font" Target="fonts/InterSemiBold-italic.fntdata"/><Relationship Id="rId12" Type="http://schemas.openxmlformats.org/officeDocument/2006/relationships/font" Target="fonts/Int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font" Target="fonts/InterSemiBold-boldItalic.fntdata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ExtraBold-bold.fntdata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c9058151d_0_12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c9058151d_0_39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c9058151d_0_53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c9058151d_0_67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c9058151d_0_80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">
  <p:cSld name="Generated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48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ean, high-tech medical network background with subtle glowing nodes and connecting lines representing digital infrastructure and healthcare connectivity. Dark blue aesthetic." id="56" name="Google Shape;5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/>
        </p:nvSpPr>
        <p:spPr>
          <a:xfrm>
            <a:off x="571500" y="762000"/>
            <a:ext cx="1143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14300" spcFirstLastPara="1" rIns="114300" wrap="square" tIns="3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75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INFRASTRUCTURE</a:t>
            </a:r>
            <a:endParaRPr b="0" sz="775">
              <a:solidFill>
                <a:srgbClr val="38BD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571500" y="1143000"/>
            <a:ext cx="5715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DocPort</a:t>
            </a:r>
            <a:endParaRPr b="0" sz="4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571500" y="2000250"/>
            <a:ext cx="5238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unified doctor-first infrastructure platform for multi-insurance OPD integration.</a:t>
            </a:r>
            <a:endParaRPr b="0"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0" name="Google Shape;60;p14"/>
          <p:cNvGrpSpPr/>
          <p:nvPr/>
        </p:nvGrpSpPr>
        <p:grpSpPr>
          <a:xfrm>
            <a:off x="571500" y="3238500"/>
            <a:ext cx="2476500" cy="1333500"/>
            <a:chOff x="0" y="0"/>
            <a:chExt cx="2476500" cy="1333500"/>
          </a:xfrm>
        </p:grpSpPr>
        <p:sp>
          <p:nvSpPr>
            <p:cNvPr id="61" name="Google Shape;61;p14"/>
            <p:cNvSpPr/>
            <p:nvPr/>
          </p:nvSpPr>
          <p:spPr>
            <a:xfrm>
              <a:off x="0" y="0"/>
              <a:ext cx="2476500" cy="1333500"/>
            </a:xfrm>
            <a:prstGeom prst="roundRect">
              <a:avLst>
                <a:gd fmla="val 8571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190500" y="225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shutter_speed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190500" y="666750"/>
              <a:ext cx="2095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Simplify Onboarding</a:t>
              </a:r>
              <a:endParaRPr b="1" sz="9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3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Eliminates repeated doctor onboarding for insurers.</a:t>
              </a:r>
              <a:endParaRPr b="0" sz="93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4" name="Google Shape;64;p14"/>
          <p:cNvGrpSpPr/>
          <p:nvPr/>
        </p:nvGrpSpPr>
        <p:grpSpPr>
          <a:xfrm>
            <a:off x="3333750" y="3238500"/>
            <a:ext cx="2476500" cy="1333500"/>
            <a:chOff x="0" y="0"/>
            <a:chExt cx="2476500" cy="1333500"/>
          </a:xfrm>
        </p:grpSpPr>
        <p:sp>
          <p:nvSpPr>
            <p:cNvPr id="65" name="Google Shape;65;p14"/>
            <p:cNvSpPr/>
            <p:nvPr/>
          </p:nvSpPr>
          <p:spPr>
            <a:xfrm>
              <a:off x="0" y="0"/>
              <a:ext cx="2476500" cy="1333500"/>
            </a:xfrm>
            <a:prstGeom prst="roundRect">
              <a:avLst>
                <a:gd fmla="val 8571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 txBox="1"/>
            <p:nvPr/>
          </p:nvSpPr>
          <p:spPr>
            <a:xfrm>
              <a:off x="190500" y="225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190500" y="666750"/>
              <a:ext cx="2095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Single Source of Truth</a:t>
              </a:r>
              <a:endParaRPr b="1" sz="9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3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 centralized registry for identity and availability.</a:t>
              </a:r>
              <a:endParaRPr b="0" sz="93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" name="Google Shape;68;p14"/>
          <p:cNvGrpSpPr/>
          <p:nvPr/>
        </p:nvGrpSpPr>
        <p:grpSpPr>
          <a:xfrm>
            <a:off x="6096000" y="3238500"/>
            <a:ext cx="2476500" cy="1333500"/>
            <a:chOff x="0" y="0"/>
            <a:chExt cx="2476500" cy="1333500"/>
          </a:xfrm>
        </p:grpSpPr>
        <p:sp>
          <p:nvSpPr>
            <p:cNvPr id="69" name="Google Shape;69;p14"/>
            <p:cNvSpPr/>
            <p:nvPr/>
          </p:nvSpPr>
          <p:spPr>
            <a:xfrm>
              <a:off x="0" y="0"/>
              <a:ext cx="2476500" cy="1333500"/>
            </a:xfrm>
            <a:prstGeom prst="roundRect">
              <a:avLst>
                <a:gd fmla="val 8571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 txBox="1"/>
            <p:nvPr/>
          </p:nvSpPr>
          <p:spPr>
            <a:xfrm>
              <a:off x="190500" y="225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1" name="Google Shape;71;p14"/>
            <p:cNvSpPr txBox="1"/>
            <p:nvPr/>
          </p:nvSpPr>
          <p:spPr>
            <a:xfrm>
              <a:off x="190500" y="666750"/>
              <a:ext cx="2095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Doctor-In-Control</a:t>
              </a:r>
              <a:endParaRPr b="1" sz="9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3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Explicit opt-in consent for insurance providers.</a:t>
              </a:r>
              <a:endParaRPr b="0" sz="93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72" name="Google Shape;7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47988"/>
            <a:ext cx="7962900" cy="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p15"/>
          <p:cNvGrpSpPr/>
          <p:nvPr/>
        </p:nvGrpSpPr>
        <p:grpSpPr>
          <a:xfrm>
            <a:off x="571500" y="571500"/>
            <a:ext cx="8001000" cy="904875"/>
            <a:chOff x="0" y="0"/>
            <a:chExt cx="8001000" cy="904875"/>
          </a:xfrm>
        </p:grpSpPr>
        <p:sp>
          <p:nvSpPr>
            <p:cNvPr id="79" name="Google Shape;79;p15"/>
            <p:cNvSpPr txBox="1"/>
            <p:nvPr/>
          </p:nvSpPr>
          <p:spPr>
            <a:xfrm>
              <a:off x="0" y="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75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CHALLENGE</a:t>
              </a:r>
              <a:endParaRPr b="0" sz="775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0" y="333375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Problem in Current OPD Ecosystem</a:t>
              </a:r>
              <a:endParaRPr b="0" sz="3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81" name="Google Shape;81;p15"/>
          <p:cNvGrpSpPr/>
          <p:nvPr/>
        </p:nvGrpSpPr>
        <p:grpSpPr>
          <a:xfrm>
            <a:off x="571500" y="1714500"/>
            <a:ext cx="3905400" cy="1143000"/>
            <a:chOff x="0" y="0"/>
            <a:chExt cx="3905400" cy="1143000"/>
          </a:xfrm>
        </p:grpSpPr>
        <p:sp>
          <p:nvSpPr>
            <p:cNvPr id="82" name="Google Shape;82;p15"/>
            <p:cNvSpPr/>
            <p:nvPr/>
          </p:nvSpPr>
          <p:spPr>
            <a:xfrm>
              <a:off x="0" y="0"/>
              <a:ext cx="39054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190500" y="225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person_add_disabled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666750" y="190500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Fragmented Onboarding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Insurance providers must onboard doctors individually, leading to data silos.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5" name="Google Shape;85;p15"/>
          <p:cNvGrpSpPr/>
          <p:nvPr/>
        </p:nvGrpSpPr>
        <p:grpSpPr>
          <a:xfrm>
            <a:off x="4667250" y="1714500"/>
            <a:ext cx="3905400" cy="1143000"/>
            <a:chOff x="0" y="0"/>
            <a:chExt cx="3905400" cy="1143000"/>
          </a:xfrm>
        </p:grpSpPr>
        <p:sp>
          <p:nvSpPr>
            <p:cNvPr id="86" name="Google Shape;86;p15"/>
            <p:cNvSpPr/>
            <p:nvPr/>
          </p:nvSpPr>
          <p:spPr>
            <a:xfrm>
              <a:off x="0" y="0"/>
              <a:ext cx="39054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 txBox="1"/>
            <p:nvPr/>
          </p:nvSpPr>
          <p:spPr>
            <a:xfrm>
              <a:off x="190500" y="225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apps_outage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666750" y="190500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App Fatigue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Doctors must use multiple insurer-specific applications to manage OPD patients.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9" name="Google Shape;89;p15"/>
          <p:cNvGrpSpPr/>
          <p:nvPr/>
        </p:nvGrpSpPr>
        <p:grpSpPr>
          <a:xfrm>
            <a:off x="571500" y="3048000"/>
            <a:ext cx="3905400" cy="1143000"/>
            <a:chOff x="0" y="0"/>
            <a:chExt cx="3905400" cy="1143000"/>
          </a:xfrm>
        </p:grpSpPr>
        <p:sp>
          <p:nvSpPr>
            <p:cNvPr id="90" name="Google Shape;90;p15"/>
            <p:cNvSpPr/>
            <p:nvPr/>
          </p:nvSpPr>
          <p:spPr>
            <a:xfrm>
              <a:off x="0" y="0"/>
              <a:ext cx="39054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 txBox="1"/>
            <p:nvPr/>
          </p:nvSpPr>
          <p:spPr>
            <a:xfrm>
              <a:off x="190500" y="225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666750" y="190500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Operational Drag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Complexity increases for both sides, draining resources and clinical time.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3" name="Google Shape;93;p15"/>
          <p:cNvGrpSpPr/>
          <p:nvPr/>
        </p:nvGrpSpPr>
        <p:grpSpPr>
          <a:xfrm>
            <a:off x="4667250" y="3048000"/>
            <a:ext cx="3905400" cy="1143000"/>
            <a:chOff x="0" y="0"/>
            <a:chExt cx="3905400" cy="1143000"/>
          </a:xfrm>
        </p:grpSpPr>
        <p:sp>
          <p:nvSpPr>
            <p:cNvPr id="94" name="Google Shape;94;p15"/>
            <p:cNvSpPr/>
            <p:nvPr/>
          </p:nvSpPr>
          <p:spPr>
            <a:xfrm>
              <a:off x="0" y="0"/>
              <a:ext cx="39054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 txBox="1"/>
            <p:nvPr/>
          </p:nvSpPr>
          <p:spPr>
            <a:xfrm>
              <a:off x="190500" y="225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trending_down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6" name="Google Shape;96;p15"/>
            <p:cNvSpPr txBox="1"/>
            <p:nvPr/>
          </p:nvSpPr>
          <p:spPr>
            <a:xfrm>
              <a:off x="666750" y="190500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Poor Utilization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Friction results in low adoption of OPD insurance benefits by policyholders.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/>
          <p:nvPr/>
        </p:nvSpPr>
        <p:spPr>
          <a:xfrm>
            <a:off x="571500" y="571500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75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HOW IT WORKS</a:t>
            </a:r>
            <a:endParaRPr b="0" sz="775">
              <a:solidFill>
                <a:srgbClr val="38BD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71500" y="90487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What DocPort Does</a:t>
            </a:r>
            <a:endParaRPr b="0" sz="36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04" name="Google Shape;104;p16"/>
          <p:cNvGrpSpPr/>
          <p:nvPr/>
        </p:nvGrpSpPr>
        <p:grpSpPr>
          <a:xfrm>
            <a:off x="571500" y="1714500"/>
            <a:ext cx="3905400" cy="1143000"/>
            <a:chOff x="571500" y="1714500"/>
            <a:chExt cx="3905400" cy="1143000"/>
          </a:xfrm>
        </p:grpSpPr>
        <p:sp>
          <p:nvSpPr>
            <p:cNvPr id="105" name="Google Shape;105;p16"/>
            <p:cNvSpPr/>
            <p:nvPr/>
          </p:nvSpPr>
          <p:spPr>
            <a:xfrm>
              <a:off x="571500" y="1714500"/>
              <a:ext cx="39054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 txBox="1"/>
            <p:nvPr/>
          </p:nvSpPr>
          <p:spPr>
            <a:xfrm>
              <a:off x="762000" y="19686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recent_actors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7" name="Google Shape;107;p16"/>
            <p:cNvSpPr txBox="1"/>
            <p:nvPr/>
          </p:nvSpPr>
          <p:spPr>
            <a:xfrm>
              <a:off x="1238250" y="1905000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Centralized Doctor Registry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 unified system that provides a single, verified source for doctor information across the network.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8" name="Google Shape;108;p16"/>
          <p:cNvGrpSpPr/>
          <p:nvPr/>
        </p:nvGrpSpPr>
        <p:grpSpPr>
          <a:xfrm>
            <a:off x="4667250" y="1714500"/>
            <a:ext cx="3905400" cy="1143000"/>
            <a:chOff x="4667250" y="1714500"/>
            <a:chExt cx="3905400" cy="1143000"/>
          </a:xfrm>
        </p:grpSpPr>
        <p:sp>
          <p:nvSpPr>
            <p:cNvPr id="109" name="Google Shape;109;p16"/>
            <p:cNvSpPr/>
            <p:nvPr/>
          </p:nvSpPr>
          <p:spPr>
            <a:xfrm>
              <a:off x="4667250" y="1714500"/>
              <a:ext cx="39054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4857750" y="19686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dashboard_customize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1" name="Google Shape;111;p16"/>
            <p:cNvSpPr txBox="1"/>
            <p:nvPr/>
          </p:nvSpPr>
          <p:spPr>
            <a:xfrm>
              <a:off x="5334000" y="1905000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Universal Management App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Single application for doctors to manage their profile, credentials, and real-time availability.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2" name="Google Shape;112;p16"/>
          <p:cNvGrpSpPr/>
          <p:nvPr/>
        </p:nvGrpSpPr>
        <p:grpSpPr>
          <a:xfrm>
            <a:off x="571500" y="3048000"/>
            <a:ext cx="3905400" cy="1143000"/>
            <a:chOff x="571500" y="3048000"/>
            <a:chExt cx="3905400" cy="1143000"/>
          </a:xfrm>
        </p:grpSpPr>
        <p:sp>
          <p:nvSpPr>
            <p:cNvPr id="113" name="Google Shape;113;p16"/>
            <p:cNvSpPr/>
            <p:nvPr/>
          </p:nvSpPr>
          <p:spPr>
            <a:xfrm>
              <a:off x="571500" y="3048000"/>
              <a:ext cx="39054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 txBox="1"/>
            <p:nvPr/>
          </p:nvSpPr>
          <p:spPr>
            <a:xfrm>
              <a:off x="762000" y="33021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api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5" name="Google Shape;115;p16"/>
            <p:cNvSpPr txBox="1"/>
            <p:nvPr/>
          </p:nvSpPr>
          <p:spPr>
            <a:xfrm>
              <a:off x="1238250" y="3238500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Standardized API Integration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Insurance providers integrate through robust, standardized APIs for seamless data exchange.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6" name="Google Shape;116;p16"/>
          <p:cNvGrpSpPr/>
          <p:nvPr/>
        </p:nvGrpSpPr>
        <p:grpSpPr>
          <a:xfrm>
            <a:off x="4667250" y="3048000"/>
            <a:ext cx="3905400" cy="1143000"/>
            <a:chOff x="4667250" y="3048000"/>
            <a:chExt cx="3905400" cy="1143000"/>
          </a:xfrm>
        </p:grpSpPr>
        <p:sp>
          <p:nvSpPr>
            <p:cNvPr id="117" name="Google Shape;117;p16"/>
            <p:cNvSpPr/>
            <p:nvPr/>
          </p:nvSpPr>
          <p:spPr>
            <a:xfrm>
              <a:off x="4667250" y="3048000"/>
              <a:ext cx="39054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4857750" y="33021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how_to_reg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5334000" y="3238500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Doctor-Led Opt-In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Doctors maintain control by explicitly opting into the insurers they choose to work with.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571500" y="571500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75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SYSTEM DESIGN</a:t>
            </a:r>
            <a:endParaRPr b="0" sz="775">
              <a:solidFill>
                <a:srgbClr val="38BD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571500" y="90487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Core Architecture</a:t>
            </a:r>
            <a:endParaRPr b="0" sz="36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27" name="Google Shape;127;p17"/>
          <p:cNvGrpSpPr/>
          <p:nvPr/>
        </p:nvGrpSpPr>
        <p:grpSpPr>
          <a:xfrm>
            <a:off x="571500" y="1714500"/>
            <a:ext cx="3905400" cy="1143000"/>
            <a:chOff x="571500" y="1714500"/>
            <a:chExt cx="3905400" cy="1143000"/>
          </a:xfrm>
        </p:grpSpPr>
        <p:sp>
          <p:nvSpPr>
            <p:cNvPr id="128" name="Google Shape;128;p17"/>
            <p:cNvSpPr/>
            <p:nvPr/>
          </p:nvSpPr>
          <p:spPr>
            <a:xfrm>
              <a:off x="571500" y="1714500"/>
              <a:ext cx="39054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762000" y="19876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devices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1238250" y="1905000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Doctor Application (Frontend)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High-performance interface for doctors to manage credentials and real-time availability.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1" name="Google Shape;131;p17"/>
          <p:cNvGrpSpPr/>
          <p:nvPr/>
        </p:nvGrpSpPr>
        <p:grpSpPr>
          <a:xfrm>
            <a:off x="4667250" y="1714500"/>
            <a:ext cx="3905400" cy="1143000"/>
            <a:chOff x="4667250" y="1714500"/>
            <a:chExt cx="3905400" cy="1143000"/>
          </a:xfrm>
        </p:grpSpPr>
        <p:sp>
          <p:nvSpPr>
            <p:cNvPr id="132" name="Google Shape;132;p17"/>
            <p:cNvSpPr/>
            <p:nvPr/>
          </p:nvSpPr>
          <p:spPr>
            <a:xfrm>
              <a:off x="4667250" y="1714500"/>
              <a:ext cx="39054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 txBox="1"/>
            <p:nvPr/>
          </p:nvSpPr>
          <p:spPr>
            <a:xfrm>
              <a:off x="4857750" y="19876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5334000" y="1905000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Backend Services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Core logic for the Doctor Registry, Consent management, and automated Scheduling engine.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5" name="Google Shape;135;p17"/>
          <p:cNvGrpSpPr/>
          <p:nvPr/>
        </p:nvGrpSpPr>
        <p:grpSpPr>
          <a:xfrm>
            <a:off x="571500" y="3048000"/>
            <a:ext cx="3905400" cy="1143000"/>
            <a:chOff x="571500" y="3048000"/>
            <a:chExt cx="3905400" cy="1143000"/>
          </a:xfrm>
        </p:grpSpPr>
        <p:sp>
          <p:nvSpPr>
            <p:cNvPr id="136" name="Google Shape;136;p17"/>
            <p:cNvSpPr/>
            <p:nvPr/>
          </p:nvSpPr>
          <p:spPr>
            <a:xfrm>
              <a:off x="571500" y="3048000"/>
              <a:ext cx="39054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762000" y="3321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8" name="Google Shape;138;p17"/>
            <p:cNvSpPr txBox="1"/>
            <p:nvPr/>
          </p:nvSpPr>
          <p:spPr>
            <a:xfrm>
              <a:off x="1238250" y="3238500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Integration Layer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Robust Insurance Provider gateway featuring standardized APIs and secure Webhooks.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9" name="Google Shape;139;p17"/>
          <p:cNvGrpSpPr/>
          <p:nvPr/>
        </p:nvGrpSpPr>
        <p:grpSpPr>
          <a:xfrm>
            <a:off x="4667250" y="3048000"/>
            <a:ext cx="3905400" cy="1143000"/>
            <a:chOff x="4667250" y="3048000"/>
            <a:chExt cx="3905400" cy="1143000"/>
          </a:xfrm>
        </p:grpSpPr>
        <p:sp>
          <p:nvSpPr>
            <p:cNvPr id="140" name="Google Shape;140;p17"/>
            <p:cNvSpPr/>
            <p:nvPr/>
          </p:nvSpPr>
          <p:spPr>
            <a:xfrm>
              <a:off x="4667250" y="3048000"/>
              <a:ext cx="39054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4857750" y="3321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5334000" y="3238500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PostgreSQL Database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Centralized storage for identity verification, availability windows, and appointment data.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571500" y="571500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75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FUTURE &amp; IMPACT</a:t>
            </a:r>
            <a:endParaRPr b="0" sz="775">
              <a:solidFill>
                <a:srgbClr val="38BD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90487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Benefits and Vision</a:t>
            </a:r>
            <a:endParaRPr b="0" sz="36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50" name="Google Shape;150;p18"/>
          <p:cNvGrpSpPr/>
          <p:nvPr/>
        </p:nvGrpSpPr>
        <p:grpSpPr>
          <a:xfrm>
            <a:off x="571500" y="1714500"/>
            <a:ext cx="2476500" cy="1143000"/>
            <a:chOff x="571500" y="1714500"/>
            <a:chExt cx="2476500" cy="1143000"/>
          </a:xfrm>
        </p:grpSpPr>
        <p:sp>
          <p:nvSpPr>
            <p:cNvPr id="151" name="Google Shape;151;p18"/>
            <p:cNvSpPr/>
            <p:nvPr/>
          </p:nvSpPr>
          <p:spPr>
            <a:xfrm>
              <a:off x="571500" y="1714500"/>
              <a:ext cx="24765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762000" y="1940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bolt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1238250" y="1857375"/>
              <a:ext cx="1714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Operational Efficiency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Reduces operational complexity for doctors and insurers.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4" name="Google Shape;154;p18"/>
          <p:cNvGrpSpPr/>
          <p:nvPr/>
        </p:nvGrpSpPr>
        <p:grpSpPr>
          <a:xfrm>
            <a:off x="3333750" y="1714500"/>
            <a:ext cx="2476500" cy="1143000"/>
            <a:chOff x="3333750" y="1714500"/>
            <a:chExt cx="2476500" cy="1143000"/>
          </a:xfrm>
        </p:grpSpPr>
        <p:sp>
          <p:nvSpPr>
            <p:cNvPr id="155" name="Google Shape;155;p18"/>
            <p:cNvSpPr/>
            <p:nvPr/>
          </p:nvSpPr>
          <p:spPr>
            <a:xfrm>
              <a:off x="3333750" y="1714500"/>
              <a:ext cx="24765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 txBox="1"/>
            <p:nvPr/>
          </p:nvSpPr>
          <p:spPr>
            <a:xfrm>
              <a:off x="3524250" y="1940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content_copy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4000500" y="1857375"/>
              <a:ext cx="1714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Data Integrity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Eliminates repeated onboarding and data duplication.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8" name="Google Shape;158;p18"/>
          <p:cNvGrpSpPr/>
          <p:nvPr/>
        </p:nvGrpSpPr>
        <p:grpSpPr>
          <a:xfrm>
            <a:off x="6096000" y="1714500"/>
            <a:ext cx="2476500" cy="1143000"/>
            <a:chOff x="6096000" y="1714500"/>
            <a:chExt cx="2476500" cy="1143000"/>
          </a:xfrm>
        </p:grpSpPr>
        <p:sp>
          <p:nvSpPr>
            <p:cNvPr id="159" name="Google Shape;159;p18"/>
            <p:cNvSpPr/>
            <p:nvPr/>
          </p:nvSpPr>
          <p:spPr>
            <a:xfrm>
              <a:off x="6096000" y="1714500"/>
              <a:ext cx="24765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8"/>
            <p:cNvSpPr txBox="1"/>
            <p:nvPr/>
          </p:nvSpPr>
          <p:spPr>
            <a:xfrm>
              <a:off x="6286500" y="1940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auto_graph</a:t>
              </a:r>
              <a:endParaRPr sz="24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1" name="Google Shape;161;p18"/>
            <p:cNvSpPr txBox="1"/>
            <p:nvPr/>
          </p:nvSpPr>
          <p:spPr>
            <a:xfrm>
              <a:off x="6762750" y="1857375"/>
              <a:ext cx="1714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Scalable Growth</a:t>
              </a:r>
              <a:endPara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Enables scalable OPD insurance integrations across the network.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2" name="Google Shape;162;p18"/>
          <p:cNvGrpSpPr/>
          <p:nvPr/>
        </p:nvGrpSpPr>
        <p:grpSpPr>
          <a:xfrm>
            <a:off x="571500" y="3048000"/>
            <a:ext cx="8001000" cy="1524000"/>
            <a:chOff x="571500" y="3048000"/>
            <a:chExt cx="8001000" cy="1524000"/>
          </a:xfrm>
        </p:grpSpPr>
        <p:sp>
          <p:nvSpPr>
            <p:cNvPr id="163" name="Google Shape;163;p18"/>
            <p:cNvSpPr/>
            <p:nvPr/>
          </p:nvSpPr>
          <p:spPr>
            <a:xfrm>
              <a:off x="571500" y="3048000"/>
              <a:ext cx="8001000" cy="1524000"/>
            </a:xfrm>
            <a:prstGeom prst="roundRect">
              <a:avLst>
                <a:gd fmla="val 7500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futuristic medical grid landscape with glowing lines of data connecting doctors and clinics, abstract digital healthcare concept." id="164" name="Google Shape;164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500" y="3048000"/>
              <a:ext cx="8001000" cy="1524000"/>
            </a:xfrm>
            <a:prstGeom prst="roundRect">
              <a:avLst>
                <a:gd fmla="val 7500" name="adj"/>
              </a:avLst>
            </a:prstGeom>
            <a:noFill/>
            <a:ln>
              <a:noFill/>
            </a:ln>
          </p:spPr>
        </p:pic>
        <p:sp>
          <p:nvSpPr>
            <p:cNvPr id="165" name="Google Shape;165;p18"/>
            <p:cNvSpPr txBox="1"/>
            <p:nvPr/>
          </p:nvSpPr>
          <p:spPr>
            <a:xfrm>
              <a:off x="952500" y="3238500"/>
              <a:ext cx="723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OUR VISION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Become the standard doctor identity and availability layer for OPD insurance ecosystems.</a:t>
              </a:r>
              <a:endParaRPr b="0" sz="16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